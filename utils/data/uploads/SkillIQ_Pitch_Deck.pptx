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45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1D205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743200" cy="2743200"/>
          </a:xfrm>
          <a:prstGeom prst="ellipse">
            <a:avLst/>
          </a:prstGeom>
          <a:solidFill>
            <a:srgbClr val="24286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SKILL.IQ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68680" y="3246120"/>
            <a:ext cx="502920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Career Engine That Turns Learning Into Guaranteed Opportunity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A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career-readiness and proactive recruitment ecosystem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A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job-ready talent directly with the companies that need them.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 ×  HRTECH  ×  APPLIED AI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8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Education-Employment Gap is costing everyone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296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leave education without job-ready skills or interview confidence, while companies burn weeks and budget on manual, low-confidence hiring.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101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52400" dist="50800" dir="5400000" algn="bl" rotWithShape="0">
              <a:srgbClr val="1D205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48640" cy="54864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7" name="Image 0" descr="/home/claude/skilliq/icons/FiTrendingDow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43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3776472"/>
            <a:ext cx="2761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struggle to find talent with the right mix of technical &amp; soft skills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4334256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ManpowerGroup Talent Shortage Survey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270248" y="2331720"/>
            <a:ext cx="33101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52400" dist="50800" dir="5400000" algn="bl" rotWithShape="0">
              <a:srgbClr val="1D205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606040"/>
            <a:ext cx="548640" cy="54864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13" name="Image 1" descr="/home/claude/skilliq/icons/Fi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7432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329184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hrs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544568" y="3776472"/>
            <a:ext cx="2761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an HR manager spends screening resumes for a single hire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44568" y="4334256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hiring-efficiency benchmarks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900416" y="2331720"/>
            <a:ext cx="331012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52400" dist="50800" dir="5400000" algn="bl" rotWithShape="0">
              <a:srgbClr val="1D205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74736" y="2606040"/>
            <a:ext cx="548640" cy="54864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19" name="Image 2" descr="/home/claude/skilliq/icons/FiCalend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7432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74736" y="329184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 days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174736" y="3776472"/>
            <a:ext cx="2761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Time-to-Hire for a single role using traditional job boards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174736" y="4334256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5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industry benchmarks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4008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one sentence:  </a:t>
            </a:r>
            <a:r>
              <a:rPr lang="en-US" sz="12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solve only half the problem, Coursera teaches without placing, LinkedIn lists jobs without validating readiness.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system. Two sides of the same problem, solved together.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 is a dual-sided platform where demonstrated skill — not a resume — triggers the match.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D205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68880"/>
            <a:ext cx="594360" cy="59436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7" name="Image 0" descr="/home/claude/skilliq/icons/Fi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06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514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Candidates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005840" y="3392424"/>
            <a:ext cx="91440" cy="9144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26440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monitored learning paths aligned to industry standards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05840" y="4105656"/>
            <a:ext cx="91440" cy="9144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39776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 Mock Interviews with behavioral &amp; sentiment analysis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05840" y="4818888"/>
            <a:ext cx="91440" cy="9144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6908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Job-simulation assignments that build real experience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05840" y="5532120"/>
            <a:ext cx="91440" cy="9144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540410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introductions — Skill.IQ pitches you to employers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72200" y="21488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D2050"/>
          </a:solidFill>
          <a:ln/>
        </p:spPr>
      </p:sp>
      <p:sp>
        <p:nvSpPr>
          <p:cNvPr id="18" name="Shape 15"/>
          <p:cNvSpPr/>
          <p:nvPr/>
        </p:nvSpPr>
        <p:spPr>
          <a:xfrm>
            <a:off x="6492240" y="246888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1" descr="/home/claude/skilliq/icons/Fi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60604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2514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Companies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537960" y="3392424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18"/>
          <p:cNvSpPr/>
          <p:nvPr/>
        </p:nvSpPr>
        <p:spPr>
          <a:xfrm>
            <a:off x="6766560" y="326440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 recruitment dashboard — stop waiting on applications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537960" y="4105656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39776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"Talent-Drop" alerts when a matching candidate is ready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537960" y="4818888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2"/>
          <p:cNvSpPr/>
          <p:nvPr/>
        </p:nvSpPr>
        <p:spPr>
          <a:xfrm>
            <a:off x="6766560" y="46908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ships with an AI-generated Performance Report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537960" y="5532120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Text 24"/>
          <p:cNvSpPr/>
          <p:nvPr/>
        </p:nvSpPr>
        <p:spPr>
          <a:xfrm>
            <a:off x="6766560" y="540410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screening time replaced with pre-vetted shortlists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6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CANDIDATE JOURNEY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"what do I want to do" to hired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75004" y="2468880"/>
            <a:ext cx="603504" cy="603504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7" name="Image 0" descr="/home/claude/skilliq/icons/FiMessage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" y="26060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Intake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assesses career goals, background &amp; aspirations</a:t>
            </a:r>
            <a:endParaRPr lang="en-US" sz="970" dirty="0"/>
          </a:p>
        </p:txBody>
      </p:sp>
      <p:pic>
        <p:nvPicPr>
          <p:cNvPr id="10" name="Image 1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2295144" y="342900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41448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578608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976372" y="2468880"/>
            <a:ext cx="603504" cy="603504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14" name="Image 2" descr="/home/claude/skilliq/icons/FiCompas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532" y="260604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51176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2569464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a personalized, industry-approved curriculum</a:t>
            </a:r>
            <a:endParaRPr lang="en-US" sz="970" dirty="0"/>
          </a:p>
        </p:txBody>
      </p:sp>
      <p:pic>
        <p:nvPicPr>
          <p:cNvPr id="17" name="Image 3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096512" y="342900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242816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379976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777740" y="2468880"/>
            <a:ext cx="603504" cy="603504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21" name="Image 4" descr="/home/claude/skilliq/icons/FiCheckSquar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60604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52544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Progress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370832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&amp; tests ensure real mastery, not passive viewing</a:t>
            </a:r>
            <a:endParaRPr lang="en-US" sz="970" dirty="0"/>
          </a:p>
        </p:txBody>
      </p:sp>
      <p:pic>
        <p:nvPicPr>
          <p:cNvPr id="24" name="Image 5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897880" y="3429000"/>
            <a:ext cx="164592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044184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181344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579108" y="2468880"/>
            <a:ext cx="603504" cy="603504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28" name="Image 6" descr="/home/claude/skilliq/icons/FiMi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6268" y="2606040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53912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Interviews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172200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sentiment analysis, repeated until interview-ready</a:t>
            </a:r>
            <a:endParaRPr lang="en-US" sz="970" dirty="0"/>
          </a:p>
        </p:txBody>
      </p:sp>
      <p:pic>
        <p:nvPicPr>
          <p:cNvPr id="31" name="Image 7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699248" y="3429000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845552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7982712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8380476" y="2468880"/>
            <a:ext cx="603504" cy="603504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35" name="Image 8" descr="/home/claude/skilliq/icons/FiLayer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7636" y="2606040"/>
            <a:ext cx="329184" cy="32918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955280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Simulation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7973568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assignments build practical, on-the-job experience</a:t>
            </a:r>
            <a:endParaRPr lang="en-US" sz="970" dirty="0"/>
          </a:p>
        </p:txBody>
      </p:sp>
      <p:pic>
        <p:nvPicPr>
          <p:cNvPr id="38" name="Image 9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9500616" y="3429000"/>
            <a:ext cx="164592" cy="164592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646920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40" name="Text 28"/>
          <p:cNvSpPr/>
          <p:nvPr/>
        </p:nvSpPr>
        <p:spPr>
          <a:xfrm>
            <a:off x="978408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10181844" y="2468880"/>
            <a:ext cx="603504" cy="603504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42" name="Image 10" descr="/home/claude/skilliq/icons/FiUserCheck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9004" y="2606040"/>
            <a:ext cx="329184" cy="329184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756648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Match</a:t>
            </a:r>
            <a:endParaRPr lang="en-US" sz="1250" dirty="0"/>
          </a:p>
        </p:txBody>
      </p:sp>
      <p:sp>
        <p:nvSpPr>
          <p:cNvPr id="44" name="Text 31"/>
          <p:cNvSpPr/>
          <p:nvPr/>
        </p:nvSpPr>
        <p:spPr>
          <a:xfrm>
            <a:off x="9774936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 recommends the candidate directly to employers</a:t>
            </a:r>
            <a:endParaRPr lang="en-US" sz="970" dirty="0"/>
          </a:p>
        </p:txBody>
      </p:sp>
      <p:sp>
        <p:nvSpPr>
          <p:cNvPr id="45" name="Text 32"/>
          <p:cNvSpPr/>
          <p:nvPr/>
        </p:nvSpPr>
        <p:spPr>
          <a:xfrm>
            <a:off x="64008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Career-matching only unlocks once the learning path is verified — 100% candidate quality, by design.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COMPANY JOURNEY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open role to pre-vetted hire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75004" y="2468880"/>
            <a:ext cx="603504" cy="60350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" name="Image 0" descr="/home/claude/skilliq/icons/FiMessage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" y="26060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outlines the role &amp; expectations via chat interface</a:t>
            </a:r>
            <a:endParaRPr lang="en-US" sz="970" dirty="0"/>
          </a:p>
        </p:txBody>
      </p:sp>
      <p:pic>
        <p:nvPicPr>
          <p:cNvPr id="10" name="Image 1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2295144" y="342900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41448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578608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976372" y="2468880"/>
            <a:ext cx="603504" cy="60350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2" descr="/home/claude/skilliq/icons/Fi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532" y="260604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51176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Analysis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2569464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probes further to understand true hiring criteria &amp; culture</a:t>
            </a:r>
            <a:endParaRPr lang="en-US" sz="970" dirty="0"/>
          </a:p>
        </p:txBody>
      </p:sp>
      <p:pic>
        <p:nvPicPr>
          <p:cNvPr id="17" name="Image 3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096512" y="342900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242816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379976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777740" y="2468880"/>
            <a:ext cx="603504" cy="60350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4" descr="/home/claude/skilliq/icons/FiBell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60604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52544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Talent-Drop Alert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370832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notification the moment a matching candidate qualifies</a:t>
            </a:r>
            <a:endParaRPr lang="en-US" sz="970" dirty="0"/>
          </a:p>
        </p:txBody>
      </p:sp>
      <p:pic>
        <p:nvPicPr>
          <p:cNvPr id="24" name="Image 5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897880" y="3429000"/>
            <a:ext cx="164592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044184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181344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579108" y="2468880"/>
            <a:ext cx="603504" cy="60350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8" name="Image 6" descr="/home/claude/skilliq/icons/FiFileTex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6268" y="2606040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53912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172200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arrives with AI-validated proof of skill</a:t>
            </a:r>
            <a:endParaRPr lang="en-US" sz="970" dirty="0"/>
          </a:p>
        </p:txBody>
      </p:sp>
      <p:pic>
        <p:nvPicPr>
          <p:cNvPr id="31" name="Image 7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699248" y="3429000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845552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7982712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8380476" y="2468880"/>
            <a:ext cx="603504" cy="60350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5" name="Image 8" descr="/home/claude/skilliq/icons/FiCalenda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7636" y="2606040"/>
            <a:ext cx="329184" cy="32918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955280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Interview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7973568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 connects company &amp; candidate to schedule directly</a:t>
            </a:r>
            <a:endParaRPr lang="en-US" sz="970" dirty="0"/>
          </a:p>
        </p:txBody>
      </p:sp>
      <p:pic>
        <p:nvPicPr>
          <p:cNvPr id="38" name="Image 9" descr="/home/claude/skilliq/icons/FiArrowRight_14163B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9500616" y="3429000"/>
            <a:ext cx="164592" cy="164592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646920" y="1965960"/>
            <a:ext cx="1673352" cy="32461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270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40" name="Text 28"/>
          <p:cNvSpPr/>
          <p:nvPr/>
        </p:nvSpPr>
        <p:spPr>
          <a:xfrm>
            <a:off x="978408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10181844" y="2468880"/>
            <a:ext cx="603504" cy="60350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2" name="Image 10" descr="/home/claude/skilliq/icons/FiCheckCircl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9004" y="2606040"/>
            <a:ext cx="329184" cy="329184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756648" y="326440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Hire</a:t>
            </a:r>
            <a:endParaRPr lang="en-US" sz="1250" dirty="0"/>
          </a:p>
        </p:txBody>
      </p:sp>
      <p:sp>
        <p:nvSpPr>
          <p:cNvPr id="44" name="Text 31"/>
          <p:cNvSpPr/>
          <p:nvPr/>
        </p:nvSpPr>
        <p:spPr>
          <a:xfrm>
            <a:off x="9774936" y="37764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7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validated hiring — or the AI sources the next match</a:t>
            </a:r>
            <a:endParaRPr lang="en-US" sz="970" dirty="0"/>
          </a:p>
        </p:txBody>
      </p:sp>
      <p:sp>
        <p:nvSpPr>
          <p:cNvPr id="45" name="Text 32"/>
          <p:cNvSpPr/>
          <p:nvPr/>
        </p:nvSpPr>
        <p:spPr>
          <a:xfrm>
            <a:off x="64008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 ads. No résumé piles. Companies see only candidates who have already proven they can do the job.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SKILL.IQ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four defensible mechanics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1D205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640080" cy="64008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6" name="Image 0" descr="/home/claude/skilliq/icons/FiZ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15468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Matching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3886200"/>
            <a:ext cx="2002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"sells" the candidate to the company — the market flips from search to invitation.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1D2050"/>
          </a:solidFill>
          <a:ln/>
        </p:spPr>
      </p:sp>
      <p:sp>
        <p:nvSpPr>
          <p:cNvPr id="10" name="Shape 7"/>
          <p:cNvSpPr/>
          <p:nvPr/>
        </p:nvSpPr>
        <p:spPr>
          <a:xfrm>
            <a:off x="3685032" y="228600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/home/claude/skilliq/icons/Fi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6744" y="315468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Validation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66744" y="3886200"/>
            <a:ext cx="2002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Report gives employers more confidence than any resume ever could.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1344" y="196596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1D205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55664" y="2286000"/>
            <a:ext cx="640080" cy="64008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16" name="Image 2" descr="/home/claude/skilliq/icons/Fi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423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15468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Locked-Progression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37376" y="3886200"/>
            <a:ext cx="2002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Career-matching unlocks only after verified learning — guaranteeing candidate quality.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51976" y="196596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1D2050"/>
          </a:solidFill>
          <a:ln/>
        </p:spPr>
      </p:sp>
      <p:sp>
        <p:nvSpPr>
          <p:cNvPr id="20" name="Shape 15"/>
          <p:cNvSpPr/>
          <p:nvPr/>
        </p:nvSpPr>
        <p:spPr>
          <a:xfrm>
            <a:off x="9226296" y="228600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3" descr="/home/claude/skilliq/icons/FiTarge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24231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8008" y="3154680"/>
            <a:ext cx="200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Alignment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08008" y="3886200"/>
            <a:ext cx="20025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customize the AI to simulate their own interview style — fit on skill and culture.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6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market, converging on one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977640" cy="4023360"/>
          </a:xfrm>
          <a:prstGeom prst="roundRect">
            <a:avLst>
              <a:gd name="adj" fmla="val 2299"/>
            </a:avLst>
          </a:prstGeom>
          <a:solidFill>
            <a:srgbClr val="14163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594360" cy="59436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6" name="Image 0" descr="/home/claude/skilliq/icons/FiTrendingU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$605.4B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C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EdTech market by 2027, growing ~15.5% CAGR from $254.8B in 2021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5257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48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EdTech Market Outlook &amp; Forecast Report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892040" y="1691640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016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198424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/home/claude/skilliq/icons/Fi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1214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181965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Gen Z &amp; Career-Switchers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897880" y="2185416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students and early professionals seeking job-ready skills, entering a market projected past $600B by 2027.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4892040" y="3118104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016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20640" y="3410712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/home/claude/skilliq/icons/FiBriefc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54787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97880" y="32461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Tech SMEs &amp; HR Teams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897880" y="361188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Growth-stage companies priced out of premium recruiters and underwater in manual, resume-based screening.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4892040" y="4544568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016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120640" y="4837176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3" descr="/home/claude/skilliq/icons/Fi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497433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97880" y="4672584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Global-First, Pilot-Led Rollout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897880" y="5038344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platform designed to scale internationally from day one, validated through regional pilots.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solves half the problem. We solve the loop.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744200" cy="566928"/>
          </a:xfrm>
          <a:prstGeom prst="roundRect">
            <a:avLst>
              <a:gd name="adj" fmla="val 9677"/>
            </a:avLst>
          </a:prstGeom>
          <a:solidFill>
            <a:srgbClr val="1416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46320" y="1691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/ LMS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0" y="16916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Job Boards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0" y="16916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industry-aligned learning</a:t>
            </a:r>
            <a:endParaRPr lang="en-US" sz="1150" dirty="0"/>
          </a:p>
        </p:txBody>
      </p:sp>
      <p:pic>
        <p:nvPicPr>
          <p:cNvPr id="10" name="Image 0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414016"/>
            <a:ext cx="256032" cy="256032"/>
          </a:xfrm>
          <a:prstGeom prst="rect">
            <a:avLst/>
          </a:prstGeom>
        </p:spPr>
      </p:pic>
      <p:pic>
        <p:nvPicPr>
          <p:cNvPr id="11" name="Image 1" descr="/home/claude/skilliq/icons/FiX_C6CA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2414016"/>
            <a:ext cx="256032" cy="256032"/>
          </a:xfrm>
          <a:prstGeom prst="rect">
            <a:avLst/>
          </a:prstGeom>
        </p:spPr>
      </p:pic>
      <p:pic>
        <p:nvPicPr>
          <p:cNvPr id="12" name="Image 2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2414016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235440" y="2258568"/>
            <a:ext cx="2148840" cy="566928"/>
          </a:xfrm>
          <a:prstGeom prst="rect">
            <a:avLst/>
          </a:prstGeom>
          <a:solidFill>
            <a:srgbClr val="E7F7F3"/>
          </a:solidFill>
          <a:ln/>
        </p:spPr>
      </p:sp>
      <p:pic>
        <p:nvPicPr>
          <p:cNvPr id="14" name="Image 3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2414016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40080" y="2825496"/>
            <a:ext cx="10744200" cy="566928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16" name="Text 10"/>
          <p:cNvSpPr/>
          <p:nvPr/>
        </p:nvSpPr>
        <p:spPr>
          <a:xfrm>
            <a:off x="822960" y="28254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interviews with validation</a:t>
            </a:r>
            <a:endParaRPr lang="en-US" sz="1150" dirty="0"/>
          </a:p>
        </p:txBody>
      </p:sp>
      <p:pic>
        <p:nvPicPr>
          <p:cNvPr id="17" name="Image 4" descr="/home/claude/skilliq/icons/FiX_C6CA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980944"/>
            <a:ext cx="256032" cy="256032"/>
          </a:xfrm>
          <a:prstGeom prst="rect">
            <a:avLst/>
          </a:prstGeom>
        </p:spPr>
      </p:pic>
      <p:pic>
        <p:nvPicPr>
          <p:cNvPr id="18" name="Image 5" descr="/home/claude/skilliq/icons/FiX_C6CA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2980944"/>
            <a:ext cx="256032" cy="256032"/>
          </a:xfrm>
          <a:prstGeom prst="rect">
            <a:avLst/>
          </a:prstGeom>
        </p:spPr>
      </p:pic>
      <p:pic>
        <p:nvPicPr>
          <p:cNvPr id="19" name="Image 6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2980944"/>
            <a:ext cx="256032" cy="25603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9235440" y="2825496"/>
            <a:ext cx="2148840" cy="566928"/>
          </a:xfrm>
          <a:prstGeom prst="rect">
            <a:avLst/>
          </a:prstGeom>
          <a:solidFill>
            <a:srgbClr val="E7F7F3"/>
          </a:solidFill>
          <a:ln/>
        </p:spPr>
      </p:sp>
      <p:pic>
        <p:nvPicPr>
          <p:cNvPr id="21" name="Image 7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2980944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22960" y="339242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Proof-of-skill sent to employers</a:t>
            </a:r>
            <a:endParaRPr lang="en-US" sz="1150" dirty="0"/>
          </a:p>
        </p:txBody>
      </p:sp>
      <p:pic>
        <p:nvPicPr>
          <p:cNvPr id="23" name="Image 8" descr="/home/claude/skilliq/icons/FiX_C6CA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3547872"/>
            <a:ext cx="256032" cy="256032"/>
          </a:xfrm>
          <a:prstGeom prst="rect">
            <a:avLst/>
          </a:prstGeom>
        </p:spPr>
      </p:pic>
      <p:pic>
        <p:nvPicPr>
          <p:cNvPr id="24" name="Image 9" descr="/home/claude/skilliq/icons/FiX_C6CA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547872"/>
            <a:ext cx="256032" cy="256032"/>
          </a:xfrm>
          <a:prstGeom prst="rect">
            <a:avLst/>
          </a:prstGeom>
        </p:spPr>
      </p:pic>
      <p:pic>
        <p:nvPicPr>
          <p:cNvPr id="25" name="Image 10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3547872"/>
            <a:ext cx="256032" cy="256032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9235440" y="3392424"/>
            <a:ext cx="2148840" cy="566928"/>
          </a:xfrm>
          <a:prstGeom prst="rect">
            <a:avLst/>
          </a:prstGeom>
          <a:solidFill>
            <a:srgbClr val="E7F7F3"/>
          </a:solidFill>
          <a:ln/>
        </p:spPr>
      </p:sp>
      <p:pic>
        <p:nvPicPr>
          <p:cNvPr id="27" name="Image 11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3547872"/>
            <a:ext cx="256032" cy="256032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640080" y="3959352"/>
            <a:ext cx="10744200" cy="566928"/>
          </a:xfrm>
          <a:prstGeom prst="rect">
            <a:avLst/>
          </a:prstGeom>
          <a:solidFill>
            <a:srgbClr val="EEF0FA"/>
          </a:solidFill>
          <a:ln/>
        </p:spPr>
      </p:sp>
      <p:sp>
        <p:nvSpPr>
          <p:cNvPr id="29" name="Text 15"/>
          <p:cNvSpPr/>
          <p:nvPr/>
        </p:nvSpPr>
        <p:spPr>
          <a:xfrm>
            <a:off x="822960" y="39593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candidate-to-company matching</a:t>
            </a:r>
            <a:endParaRPr lang="en-US" sz="1150" dirty="0"/>
          </a:p>
        </p:txBody>
      </p:sp>
      <p:pic>
        <p:nvPicPr>
          <p:cNvPr id="30" name="Image 12" descr="/home/claude/skilliq/icons/FiX_C6CA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114800"/>
            <a:ext cx="256032" cy="256032"/>
          </a:xfrm>
          <a:prstGeom prst="rect">
            <a:avLst/>
          </a:prstGeom>
        </p:spPr>
      </p:pic>
      <p:pic>
        <p:nvPicPr>
          <p:cNvPr id="31" name="Image 13" descr="/home/claude/skilliq/icons/FiX_C6CA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4114800"/>
            <a:ext cx="256032" cy="256032"/>
          </a:xfrm>
          <a:prstGeom prst="rect">
            <a:avLst/>
          </a:prstGeom>
        </p:spPr>
      </p:pic>
      <p:pic>
        <p:nvPicPr>
          <p:cNvPr id="32" name="Image 14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4114800"/>
            <a:ext cx="256032" cy="256032"/>
          </a:xfrm>
          <a:prstGeom prst="rect">
            <a:avLst/>
          </a:prstGeom>
        </p:spPr>
      </p:pic>
      <p:sp>
        <p:nvSpPr>
          <p:cNvPr id="33" name="Shape 16"/>
          <p:cNvSpPr/>
          <p:nvPr/>
        </p:nvSpPr>
        <p:spPr>
          <a:xfrm>
            <a:off x="9235440" y="3959352"/>
            <a:ext cx="2148840" cy="566928"/>
          </a:xfrm>
          <a:prstGeom prst="rect">
            <a:avLst/>
          </a:prstGeom>
          <a:solidFill>
            <a:srgbClr val="E7F7F3"/>
          </a:solidFill>
          <a:ln/>
        </p:spPr>
      </p:sp>
      <p:pic>
        <p:nvPicPr>
          <p:cNvPr id="34" name="Image 15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4114800"/>
            <a:ext cx="256032" cy="256032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822960" y="45262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employer screening time</a:t>
            </a:r>
            <a:endParaRPr lang="en-US" sz="1150" dirty="0"/>
          </a:p>
        </p:txBody>
      </p:sp>
      <p:pic>
        <p:nvPicPr>
          <p:cNvPr id="36" name="Image 16" descr="/home/claude/skilliq/icons/FiX_C6CA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681728"/>
            <a:ext cx="256032" cy="256032"/>
          </a:xfrm>
          <a:prstGeom prst="rect">
            <a:avLst/>
          </a:prstGeom>
        </p:spPr>
      </p:pic>
      <p:sp>
        <p:nvSpPr>
          <p:cNvPr id="37" name="Text 18"/>
          <p:cNvSpPr/>
          <p:nvPr/>
        </p:nvSpPr>
        <p:spPr>
          <a:xfrm>
            <a:off x="6858000" y="4526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pic>
        <p:nvPicPr>
          <p:cNvPr id="38" name="Image 17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4681728"/>
            <a:ext cx="256032" cy="256032"/>
          </a:xfrm>
          <a:prstGeom prst="rect">
            <a:avLst/>
          </a:prstGeom>
        </p:spPr>
      </p:pic>
      <p:sp>
        <p:nvSpPr>
          <p:cNvPr id="39" name="Shape 19"/>
          <p:cNvSpPr/>
          <p:nvPr/>
        </p:nvSpPr>
        <p:spPr>
          <a:xfrm>
            <a:off x="9235440" y="4526280"/>
            <a:ext cx="2148840" cy="566928"/>
          </a:xfrm>
          <a:prstGeom prst="rect">
            <a:avLst/>
          </a:prstGeom>
          <a:solidFill>
            <a:srgbClr val="E7F7F3"/>
          </a:solidFill>
          <a:ln/>
        </p:spPr>
      </p:sp>
      <p:pic>
        <p:nvPicPr>
          <p:cNvPr id="40" name="Image 18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844" y="4681728"/>
            <a:ext cx="256032" cy="256032"/>
          </a:xfrm>
          <a:prstGeom prst="rect">
            <a:avLst/>
          </a:prstGeom>
        </p:spPr>
      </p:pic>
      <p:sp>
        <p:nvSpPr>
          <p:cNvPr id="41" name="Text 2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42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revenue engines, aligned with outcomes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win when the learner is ready and the company hires — a model built on validated success, not ad spend.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D205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68880"/>
            <a:ext cx="594360" cy="594360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7" name="Image 0" descr="/home/claude/skilliq/icons/Fi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06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514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Subscription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60120" y="3383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68503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learning-path tracking &amp; progress checkups to drive adoption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43434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(monthly)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64515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AI mock interviews, sentiment coaching &amp; job simulations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53035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Career-Ready Upgrade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" y="560527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unlock for the final matching &amp; introduction stage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21488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D2050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246888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1" descr="/home/claude/skilliq/icons/Fi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6060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25146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Revenue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6492240" y="3383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Subscription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92240" y="368503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access to the proactive hiring dashboard &amp; Talent-Drops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92240" y="43434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per Hire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92240" y="464515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 of first-year salary — well below the 20–25% agencies charge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92240" y="53035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Training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92240" y="560527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license their interview style for culture-fit simulation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6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VALIDATION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loop before we scale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— no fabricated metrics. Here is exactly how we plan to earn real traction.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016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42032"/>
            <a:ext cx="457200" cy="45720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10896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Validate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96112" y="3419856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tech startups + 100 university seniors onboarded to a pilot cohort, testing the full learning-to-hire loop end to end.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016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254203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310896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Prove Value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07992" y="3419856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First Hires" for pilot companies to demonstrate speed and quality — converting pilots into paid dashboard subscribers.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863840" y="22860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blurRad="101600" dist="38100" dir="5400000" algn="bl" rotWithShape="0">
              <a:srgbClr val="1D205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19872" y="2542032"/>
            <a:ext cx="457200" cy="45720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19872" y="310896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19872" y="3419856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universities &amp; tech hubs globally, layering in success fees and custom AI interview training.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targets before Series-Seed conversations:</a:t>
            </a:r>
            <a:endParaRPr lang="en-US" sz="1300" dirty="0"/>
          </a:p>
        </p:txBody>
      </p:sp>
      <p:pic>
        <p:nvPicPr>
          <p:cNvPr id="21" name="Image 0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73752"/>
            <a:ext cx="182880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32688" y="47914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Letters of Intent from pilot companies</a:t>
            </a:r>
            <a:endParaRPr lang="en-US" sz="1150" dirty="0"/>
          </a:p>
        </p:txBody>
      </p:sp>
      <p:pic>
        <p:nvPicPr>
          <p:cNvPr id="23" name="Image 1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873752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36208" y="47914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verified student waitlist sign-ups</a:t>
            </a:r>
            <a:endParaRPr lang="en-US" sz="1150" dirty="0"/>
          </a:p>
        </p:txBody>
      </p:sp>
      <p:pic>
        <p:nvPicPr>
          <p:cNvPr id="25" name="Image 2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30952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32688" y="5248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problem-validation interviews with HR leads</a:t>
            </a:r>
            <a:endParaRPr lang="en-US" sz="1150" dirty="0"/>
          </a:p>
        </p:txBody>
      </p:sp>
      <p:pic>
        <p:nvPicPr>
          <p:cNvPr id="27" name="Image 3" descr="/home/claude/skilliq/icons/FiChe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330952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36208" y="5248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demo of the mock-interview engine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114800" cy="4114800"/>
          </a:xfrm>
          <a:prstGeom prst="ellipse">
            <a:avLst/>
          </a:prstGeom>
          <a:solidFill>
            <a:srgbClr val="1D20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build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D2050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57400"/>
            <a:ext cx="566928" cy="56692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7" name="Image 0" descr="/home/claude/skilliq/icons/Fi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945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278892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" y="315468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3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engineers &amp; AI talent to implement the platform alongside the founder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3410712" y="17830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D2050"/>
          </a:solidFill>
          <a:ln/>
        </p:spPr>
      </p:sp>
      <p:sp>
        <p:nvSpPr>
          <p:cNvPr id="11" name="Shape 8"/>
          <p:cNvSpPr/>
          <p:nvPr/>
        </p:nvSpPr>
        <p:spPr>
          <a:xfrm>
            <a:off x="3666744" y="2057400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2" name="Image 1" descr="/home/claude/skilliq/icons/FiDollarSig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1945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278892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48456" y="315468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3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capital to fund the pilot program and core AI development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6181344" y="17830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D2050"/>
          </a:solidFill>
          <a:ln/>
        </p:spPr>
      </p:sp>
      <p:sp>
        <p:nvSpPr>
          <p:cNvPr id="16" name="Shape 12"/>
          <p:cNvSpPr/>
          <p:nvPr/>
        </p:nvSpPr>
        <p:spPr>
          <a:xfrm>
            <a:off x="6437376" y="2057400"/>
            <a:ext cx="566928" cy="56692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17" name="Image 2" descr="/home/claude/skilliq/icons/FiBriefc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219456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278892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Access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19088" y="315468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3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companies to shape structured, industry-approved learning paths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8951976" y="17830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D2050"/>
          </a:solidFill>
          <a:ln/>
        </p:spPr>
      </p:sp>
      <p:sp>
        <p:nvSpPr>
          <p:cNvPr id="21" name="Shape 16"/>
          <p:cNvSpPr/>
          <p:nvPr/>
        </p:nvSpPr>
        <p:spPr>
          <a:xfrm>
            <a:off x="9208008" y="2057400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3" descr="/home/claude/skilliq/icons/FiSear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219456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278892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89720" y="315468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3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hiring-manager feedback to surface the next features worth building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12700">
            <a:solidFill>
              <a:srgbClr val="2C2F6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080" y="4709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make "applying for jobs" obsolete.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40080" y="5257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  —  where demonstrated skill is the only application you need.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40080" y="5897880"/>
            <a:ext cx="384048" cy="384048"/>
          </a:xfrm>
          <a:prstGeom prst="ellipse">
            <a:avLst/>
          </a:prstGeom>
          <a:solidFill>
            <a:srgbClr val="5B5FEF"/>
          </a:solidFill>
          <a:ln/>
        </p:spPr>
      </p:sp>
      <p:pic>
        <p:nvPicPr>
          <p:cNvPr id="29" name="Image 4" descr="/home/claude/skilliq/icons/FiMai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998464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43000" y="5897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contact@skill-iq.ai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6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Skill.IQ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1082</Words>
  <Application>Microsoft Office PowerPoint</Application>
  <PresentationFormat>Widescreen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Fathima 20241201</cp:lastModifiedBy>
  <cp:revision>3</cp:revision>
  <dcterms:created xsi:type="dcterms:W3CDTF">2026-08-06T07:01:34Z</dcterms:created>
  <dcterms:modified xsi:type="dcterms:W3CDTF">2026-08-06T12:14:58Z</dcterms:modified>
</cp:coreProperties>
</file>